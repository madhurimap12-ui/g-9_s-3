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Nunito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Nunito Bold" panose="020B0604020202020204" charset="0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55" d="100"/>
          <a:sy n="55" d="100"/>
        </p:scale>
        <p:origin x="427" y="1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04800" y="1638300"/>
            <a:ext cx="16644841" cy="4411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00"/>
              </a:lnSpc>
            </a:pPr>
            <a:r>
              <a:rPr lang="en-US" sz="7545" dirty="0">
                <a:solidFill>
                  <a:srgbClr val="303870"/>
                </a:solidFill>
                <a:latin typeface="Agrandir Wide" panose="00000505000000000000"/>
                <a:ea typeface="Agrandir Wide" panose="00000505000000000000"/>
                <a:cs typeface="Agrandir Wide" panose="00000505000000000000"/>
                <a:sym typeface="Agrandir Wide" panose="00000505000000000000"/>
              </a:rPr>
              <a:t>UNSUPERVISED LEARNING </a:t>
            </a:r>
          </a:p>
          <a:p>
            <a:pPr algn="l">
              <a:lnSpc>
                <a:spcPts val="8600"/>
              </a:lnSpc>
            </a:pPr>
            <a:endParaRPr lang="en-US" sz="7545" dirty="0">
              <a:solidFill>
                <a:srgbClr val="303870"/>
              </a:solidFill>
              <a:latin typeface="Agrandir Wide" panose="00000505000000000000"/>
              <a:ea typeface="Agrandir Wide" panose="00000505000000000000"/>
              <a:cs typeface="Agrandir Wide" panose="00000505000000000000"/>
              <a:sym typeface="Agrandir Wide" panose="00000505000000000000"/>
            </a:endParaRPr>
          </a:p>
          <a:p>
            <a:pPr algn="l">
              <a:lnSpc>
                <a:spcPts val="8600"/>
              </a:lnSpc>
            </a:pPr>
            <a:r>
              <a:rPr lang="en-US" sz="6000" dirty="0">
                <a:solidFill>
                  <a:srgbClr val="303870"/>
                </a:solidFill>
                <a:latin typeface="Agrandir Wide" panose="00000505000000000000"/>
                <a:ea typeface="Agrandir Wide" panose="00000505000000000000"/>
                <a:cs typeface="Agrandir Wide" panose="00000505000000000000"/>
                <a:sym typeface="Agrandir Wide" panose="00000505000000000000"/>
              </a:rPr>
              <a:t>WINE CHEMICAL PROPERTY ANOMOLY DETECTION USING DBSCAN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378830" y="8428475"/>
            <a:ext cx="3880470" cy="1660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5"/>
              </a:lnSpc>
            </a:pPr>
            <a:r>
              <a:rPr lang="en-US" sz="1920" spc="105" dirty="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Deepsikha -2520030205</a:t>
            </a:r>
          </a:p>
          <a:p>
            <a:pPr algn="ctr">
              <a:lnSpc>
                <a:spcPts val="3285"/>
              </a:lnSpc>
            </a:pPr>
            <a:r>
              <a:rPr lang="en-US" sz="1920" spc="105" dirty="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Madhurima-2520030182</a:t>
            </a:r>
          </a:p>
          <a:p>
            <a:pPr algn="ctr">
              <a:lnSpc>
                <a:spcPts val="3285"/>
              </a:lnSpc>
            </a:pPr>
            <a:r>
              <a:rPr lang="en-US" sz="1920" spc="105" dirty="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Alekhya-2520030209</a:t>
            </a:r>
          </a:p>
          <a:p>
            <a:pPr algn="ctr">
              <a:lnSpc>
                <a:spcPts val="3285"/>
              </a:lnSpc>
              <a:spcBef>
                <a:spcPct val="0"/>
              </a:spcBef>
            </a:pPr>
            <a:r>
              <a:rPr lang="en-US" sz="1920" b="1" spc="105" dirty="0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SECTION:3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1375895"/>
            <a:ext cx="10422463" cy="1369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75"/>
              </a:lnSpc>
            </a:pPr>
            <a:r>
              <a:rPr lang="en-US" sz="7870" b="1">
                <a:solidFill>
                  <a:srgbClr val="303870"/>
                </a:solidFill>
                <a:latin typeface="Agrandir Wide Bold" panose="00000805000000000000"/>
                <a:ea typeface="Agrandir Wide Bold" panose="00000805000000000000"/>
                <a:cs typeface="Agrandir Wide Bold" panose="00000805000000000000"/>
                <a:sym typeface="Agrandir Wide Bold" panose="00000805000000000000"/>
              </a:rPr>
              <a:t>OUR CONTENTS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28700" y="3217151"/>
            <a:ext cx="5567160" cy="838151"/>
            <a:chOff x="0" y="0"/>
            <a:chExt cx="1466248" cy="2207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66248" cy="220747"/>
            </a:xfrm>
            <a:custGeom>
              <a:avLst/>
              <a:gdLst/>
              <a:ahLst/>
              <a:cxnLst/>
              <a:rect l="l" t="t" r="r" b="b"/>
              <a:pathLst>
                <a:path w="1466248" h="220747">
                  <a:moveTo>
                    <a:pt x="110374" y="0"/>
                  </a:moveTo>
                  <a:lnTo>
                    <a:pt x="1355874" y="0"/>
                  </a:lnTo>
                  <a:cubicBezTo>
                    <a:pt x="1385147" y="0"/>
                    <a:pt x="1413221" y="11629"/>
                    <a:pt x="1433920" y="32328"/>
                  </a:cubicBezTo>
                  <a:cubicBezTo>
                    <a:pt x="1454619" y="53027"/>
                    <a:pt x="1466248" y="81101"/>
                    <a:pt x="1466248" y="110374"/>
                  </a:cubicBezTo>
                  <a:lnTo>
                    <a:pt x="1466248" y="110374"/>
                  </a:lnTo>
                  <a:cubicBezTo>
                    <a:pt x="1466248" y="139647"/>
                    <a:pt x="1454619" y="167721"/>
                    <a:pt x="1433920" y="188420"/>
                  </a:cubicBezTo>
                  <a:cubicBezTo>
                    <a:pt x="1413221" y="209119"/>
                    <a:pt x="1385147" y="220747"/>
                    <a:pt x="1355874" y="220747"/>
                  </a:cubicBezTo>
                  <a:lnTo>
                    <a:pt x="110374" y="220747"/>
                  </a:lnTo>
                  <a:cubicBezTo>
                    <a:pt x="81101" y="220747"/>
                    <a:pt x="53027" y="209119"/>
                    <a:pt x="32328" y="188420"/>
                  </a:cubicBezTo>
                  <a:cubicBezTo>
                    <a:pt x="11629" y="167721"/>
                    <a:pt x="0" y="139647"/>
                    <a:pt x="0" y="110374"/>
                  </a:cubicBezTo>
                  <a:lnTo>
                    <a:pt x="0" y="110374"/>
                  </a:lnTo>
                  <a:cubicBezTo>
                    <a:pt x="0" y="81101"/>
                    <a:pt x="11629" y="53027"/>
                    <a:pt x="32328" y="32328"/>
                  </a:cubicBezTo>
                  <a:cubicBezTo>
                    <a:pt x="53027" y="11629"/>
                    <a:pt x="81101" y="0"/>
                    <a:pt x="110374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95250"/>
              <a:ext cx="1466248" cy="315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076476" y="3217151"/>
            <a:ext cx="5567160" cy="838151"/>
            <a:chOff x="0" y="0"/>
            <a:chExt cx="1466248" cy="22074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66248" cy="220747"/>
            </a:xfrm>
            <a:custGeom>
              <a:avLst/>
              <a:gdLst/>
              <a:ahLst/>
              <a:cxnLst/>
              <a:rect l="l" t="t" r="r" b="b"/>
              <a:pathLst>
                <a:path w="1466248" h="220747">
                  <a:moveTo>
                    <a:pt x="110374" y="0"/>
                  </a:moveTo>
                  <a:lnTo>
                    <a:pt x="1355874" y="0"/>
                  </a:lnTo>
                  <a:cubicBezTo>
                    <a:pt x="1385147" y="0"/>
                    <a:pt x="1413221" y="11629"/>
                    <a:pt x="1433920" y="32328"/>
                  </a:cubicBezTo>
                  <a:cubicBezTo>
                    <a:pt x="1454619" y="53027"/>
                    <a:pt x="1466248" y="81101"/>
                    <a:pt x="1466248" y="110374"/>
                  </a:cubicBezTo>
                  <a:lnTo>
                    <a:pt x="1466248" y="110374"/>
                  </a:lnTo>
                  <a:cubicBezTo>
                    <a:pt x="1466248" y="139647"/>
                    <a:pt x="1454619" y="167721"/>
                    <a:pt x="1433920" y="188420"/>
                  </a:cubicBezTo>
                  <a:cubicBezTo>
                    <a:pt x="1413221" y="209119"/>
                    <a:pt x="1385147" y="220747"/>
                    <a:pt x="1355874" y="220747"/>
                  </a:cubicBezTo>
                  <a:lnTo>
                    <a:pt x="110374" y="220747"/>
                  </a:lnTo>
                  <a:cubicBezTo>
                    <a:pt x="81101" y="220747"/>
                    <a:pt x="53027" y="209119"/>
                    <a:pt x="32328" y="188420"/>
                  </a:cubicBezTo>
                  <a:cubicBezTo>
                    <a:pt x="11629" y="167721"/>
                    <a:pt x="0" y="139647"/>
                    <a:pt x="0" y="110374"/>
                  </a:cubicBezTo>
                  <a:lnTo>
                    <a:pt x="0" y="110374"/>
                  </a:lnTo>
                  <a:cubicBezTo>
                    <a:pt x="0" y="81101"/>
                    <a:pt x="11629" y="53027"/>
                    <a:pt x="32328" y="32328"/>
                  </a:cubicBezTo>
                  <a:cubicBezTo>
                    <a:pt x="53027" y="11629"/>
                    <a:pt x="81101" y="0"/>
                    <a:pt x="110374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1466248" cy="315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4386927"/>
            <a:ext cx="5567160" cy="838151"/>
            <a:chOff x="0" y="0"/>
            <a:chExt cx="1466248" cy="22074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66248" cy="220747"/>
            </a:xfrm>
            <a:custGeom>
              <a:avLst/>
              <a:gdLst/>
              <a:ahLst/>
              <a:cxnLst/>
              <a:rect l="l" t="t" r="r" b="b"/>
              <a:pathLst>
                <a:path w="1466248" h="220747">
                  <a:moveTo>
                    <a:pt x="110374" y="0"/>
                  </a:moveTo>
                  <a:lnTo>
                    <a:pt x="1355874" y="0"/>
                  </a:lnTo>
                  <a:cubicBezTo>
                    <a:pt x="1385147" y="0"/>
                    <a:pt x="1413221" y="11629"/>
                    <a:pt x="1433920" y="32328"/>
                  </a:cubicBezTo>
                  <a:cubicBezTo>
                    <a:pt x="1454619" y="53027"/>
                    <a:pt x="1466248" y="81101"/>
                    <a:pt x="1466248" y="110374"/>
                  </a:cubicBezTo>
                  <a:lnTo>
                    <a:pt x="1466248" y="110374"/>
                  </a:lnTo>
                  <a:cubicBezTo>
                    <a:pt x="1466248" y="139647"/>
                    <a:pt x="1454619" y="167721"/>
                    <a:pt x="1433920" y="188420"/>
                  </a:cubicBezTo>
                  <a:cubicBezTo>
                    <a:pt x="1413221" y="209119"/>
                    <a:pt x="1385147" y="220747"/>
                    <a:pt x="1355874" y="220747"/>
                  </a:cubicBezTo>
                  <a:lnTo>
                    <a:pt x="110374" y="220747"/>
                  </a:lnTo>
                  <a:cubicBezTo>
                    <a:pt x="81101" y="220747"/>
                    <a:pt x="53027" y="209119"/>
                    <a:pt x="32328" y="188420"/>
                  </a:cubicBezTo>
                  <a:cubicBezTo>
                    <a:pt x="11629" y="167721"/>
                    <a:pt x="0" y="139647"/>
                    <a:pt x="0" y="110374"/>
                  </a:cubicBezTo>
                  <a:lnTo>
                    <a:pt x="0" y="110374"/>
                  </a:lnTo>
                  <a:cubicBezTo>
                    <a:pt x="0" y="81101"/>
                    <a:pt x="11629" y="53027"/>
                    <a:pt x="32328" y="32328"/>
                  </a:cubicBezTo>
                  <a:cubicBezTo>
                    <a:pt x="53027" y="11629"/>
                    <a:pt x="81101" y="0"/>
                    <a:pt x="110374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95250"/>
              <a:ext cx="1466248" cy="315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076476" y="4386927"/>
            <a:ext cx="5567160" cy="838151"/>
            <a:chOff x="0" y="0"/>
            <a:chExt cx="1466248" cy="22074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66248" cy="220747"/>
            </a:xfrm>
            <a:custGeom>
              <a:avLst/>
              <a:gdLst/>
              <a:ahLst/>
              <a:cxnLst/>
              <a:rect l="l" t="t" r="r" b="b"/>
              <a:pathLst>
                <a:path w="1466248" h="220747">
                  <a:moveTo>
                    <a:pt x="110374" y="0"/>
                  </a:moveTo>
                  <a:lnTo>
                    <a:pt x="1355874" y="0"/>
                  </a:lnTo>
                  <a:cubicBezTo>
                    <a:pt x="1385147" y="0"/>
                    <a:pt x="1413221" y="11629"/>
                    <a:pt x="1433920" y="32328"/>
                  </a:cubicBezTo>
                  <a:cubicBezTo>
                    <a:pt x="1454619" y="53027"/>
                    <a:pt x="1466248" y="81101"/>
                    <a:pt x="1466248" y="110374"/>
                  </a:cubicBezTo>
                  <a:lnTo>
                    <a:pt x="1466248" y="110374"/>
                  </a:lnTo>
                  <a:cubicBezTo>
                    <a:pt x="1466248" y="139647"/>
                    <a:pt x="1454619" y="167721"/>
                    <a:pt x="1433920" y="188420"/>
                  </a:cubicBezTo>
                  <a:cubicBezTo>
                    <a:pt x="1413221" y="209119"/>
                    <a:pt x="1385147" y="220747"/>
                    <a:pt x="1355874" y="220747"/>
                  </a:cubicBezTo>
                  <a:lnTo>
                    <a:pt x="110374" y="220747"/>
                  </a:lnTo>
                  <a:cubicBezTo>
                    <a:pt x="81101" y="220747"/>
                    <a:pt x="53027" y="209119"/>
                    <a:pt x="32328" y="188420"/>
                  </a:cubicBezTo>
                  <a:cubicBezTo>
                    <a:pt x="11629" y="167721"/>
                    <a:pt x="0" y="139647"/>
                    <a:pt x="0" y="110374"/>
                  </a:cubicBezTo>
                  <a:lnTo>
                    <a:pt x="0" y="110374"/>
                  </a:lnTo>
                  <a:cubicBezTo>
                    <a:pt x="0" y="81101"/>
                    <a:pt x="11629" y="53027"/>
                    <a:pt x="32328" y="32328"/>
                  </a:cubicBezTo>
                  <a:cubicBezTo>
                    <a:pt x="53027" y="11629"/>
                    <a:pt x="81101" y="0"/>
                    <a:pt x="110374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95250"/>
              <a:ext cx="1466248" cy="315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28700" y="5558453"/>
            <a:ext cx="5567160" cy="838151"/>
            <a:chOff x="0" y="0"/>
            <a:chExt cx="1466248" cy="22074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66248" cy="220747"/>
            </a:xfrm>
            <a:custGeom>
              <a:avLst/>
              <a:gdLst/>
              <a:ahLst/>
              <a:cxnLst/>
              <a:rect l="l" t="t" r="r" b="b"/>
              <a:pathLst>
                <a:path w="1466248" h="220747">
                  <a:moveTo>
                    <a:pt x="110374" y="0"/>
                  </a:moveTo>
                  <a:lnTo>
                    <a:pt x="1355874" y="0"/>
                  </a:lnTo>
                  <a:cubicBezTo>
                    <a:pt x="1385147" y="0"/>
                    <a:pt x="1413221" y="11629"/>
                    <a:pt x="1433920" y="32328"/>
                  </a:cubicBezTo>
                  <a:cubicBezTo>
                    <a:pt x="1454619" y="53027"/>
                    <a:pt x="1466248" y="81101"/>
                    <a:pt x="1466248" y="110374"/>
                  </a:cubicBezTo>
                  <a:lnTo>
                    <a:pt x="1466248" y="110374"/>
                  </a:lnTo>
                  <a:cubicBezTo>
                    <a:pt x="1466248" y="139647"/>
                    <a:pt x="1454619" y="167721"/>
                    <a:pt x="1433920" y="188420"/>
                  </a:cubicBezTo>
                  <a:cubicBezTo>
                    <a:pt x="1413221" y="209119"/>
                    <a:pt x="1385147" y="220747"/>
                    <a:pt x="1355874" y="220747"/>
                  </a:cubicBezTo>
                  <a:lnTo>
                    <a:pt x="110374" y="220747"/>
                  </a:lnTo>
                  <a:cubicBezTo>
                    <a:pt x="81101" y="220747"/>
                    <a:pt x="53027" y="209119"/>
                    <a:pt x="32328" y="188420"/>
                  </a:cubicBezTo>
                  <a:cubicBezTo>
                    <a:pt x="11629" y="167721"/>
                    <a:pt x="0" y="139647"/>
                    <a:pt x="0" y="110374"/>
                  </a:cubicBezTo>
                  <a:lnTo>
                    <a:pt x="0" y="110374"/>
                  </a:lnTo>
                  <a:cubicBezTo>
                    <a:pt x="0" y="81101"/>
                    <a:pt x="11629" y="53027"/>
                    <a:pt x="32328" y="32328"/>
                  </a:cubicBezTo>
                  <a:cubicBezTo>
                    <a:pt x="53027" y="11629"/>
                    <a:pt x="81101" y="0"/>
                    <a:pt x="110374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95250"/>
              <a:ext cx="1466248" cy="315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076476" y="5558453"/>
            <a:ext cx="5567160" cy="838151"/>
            <a:chOff x="0" y="0"/>
            <a:chExt cx="1466248" cy="22074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66248" cy="220747"/>
            </a:xfrm>
            <a:custGeom>
              <a:avLst/>
              <a:gdLst/>
              <a:ahLst/>
              <a:cxnLst/>
              <a:rect l="l" t="t" r="r" b="b"/>
              <a:pathLst>
                <a:path w="1466248" h="220747">
                  <a:moveTo>
                    <a:pt x="110374" y="0"/>
                  </a:moveTo>
                  <a:lnTo>
                    <a:pt x="1355874" y="0"/>
                  </a:lnTo>
                  <a:cubicBezTo>
                    <a:pt x="1385147" y="0"/>
                    <a:pt x="1413221" y="11629"/>
                    <a:pt x="1433920" y="32328"/>
                  </a:cubicBezTo>
                  <a:cubicBezTo>
                    <a:pt x="1454619" y="53027"/>
                    <a:pt x="1466248" y="81101"/>
                    <a:pt x="1466248" y="110374"/>
                  </a:cubicBezTo>
                  <a:lnTo>
                    <a:pt x="1466248" y="110374"/>
                  </a:lnTo>
                  <a:cubicBezTo>
                    <a:pt x="1466248" y="139647"/>
                    <a:pt x="1454619" y="167721"/>
                    <a:pt x="1433920" y="188420"/>
                  </a:cubicBezTo>
                  <a:cubicBezTo>
                    <a:pt x="1413221" y="209119"/>
                    <a:pt x="1385147" y="220747"/>
                    <a:pt x="1355874" y="220747"/>
                  </a:cubicBezTo>
                  <a:lnTo>
                    <a:pt x="110374" y="220747"/>
                  </a:lnTo>
                  <a:cubicBezTo>
                    <a:pt x="81101" y="220747"/>
                    <a:pt x="53027" y="209119"/>
                    <a:pt x="32328" y="188420"/>
                  </a:cubicBezTo>
                  <a:cubicBezTo>
                    <a:pt x="11629" y="167721"/>
                    <a:pt x="0" y="139647"/>
                    <a:pt x="0" y="110374"/>
                  </a:cubicBezTo>
                  <a:lnTo>
                    <a:pt x="0" y="110374"/>
                  </a:lnTo>
                  <a:cubicBezTo>
                    <a:pt x="0" y="81101"/>
                    <a:pt x="11629" y="53027"/>
                    <a:pt x="32328" y="32328"/>
                  </a:cubicBezTo>
                  <a:cubicBezTo>
                    <a:pt x="53027" y="11629"/>
                    <a:pt x="81101" y="0"/>
                    <a:pt x="110374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95250"/>
              <a:ext cx="1466248" cy="315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28700" y="6729979"/>
            <a:ext cx="5567160" cy="838151"/>
            <a:chOff x="0" y="0"/>
            <a:chExt cx="1466248" cy="22074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466248" cy="220747"/>
            </a:xfrm>
            <a:custGeom>
              <a:avLst/>
              <a:gdLst/>
              <a:ahLst/>
              <a:cxnLst/>
              <a:rect l="l" t="t" r="r" b="b"/>
              <a:pathLst>
                <a:path w="1466248" h="220747">
                  <a:moveTo>
                    <a:pt x="110374" y="0"/>
                  </a:moveTo>
                  <a:lnTo>
                    <a:pt x="1355874" y="0"/>
                  </a:lnTo>
                  <a:cubicBezTo>
                    <a:pt x="1385147" y="0"/>
                    <a:pt x="1413221" y="11629"/>
                    <a:pt x="1433920" y="32328"/>
                  </a:cubicBezTo>
                  <a:cubicBezTo>
                    <a:pt x="1454619" y="53027"/>
                    <a:pt x="1466248" y="81101"/>
                    <a:pt x="1466248" y="110374"/>
                  </a:cubicBezTo>
                  <a:lnTo>
                    <a:pt x="1466248" y="110374"/>
                  </a:lnTo>
                  <a:cubicBezTo>
                    <a:pt x="1466248" y="139647"/>
                    <a:pt x="1454619" y="167721"/>
                    <a:pt x="1433920" y="188420"/>
                  </a:cubicBezTo>
                  <a:cubicBezTo>
                    <a:pt x="1413221" y="209119"/>
                    <a:pt x="1385147" y="220747"/>
                    <a:pt x="1355874" y="220747"/>
                  </a:cubicBezTo>
                  <a:lnTo>
                    <a:pt x="110374" y="220747"/>
                  </a:lnTo>
                  <a:cubicBezTo>
                    <a:pt x="81101" y="220747"/>
                    <a:pt x="53027" y="209119"/>
                    <a:pt x="32328" y="188420"/>
                  </a:cubicBezTo>
                  <a:cubicBezTo>
                    <a:pt x="11629" y="167721"/>
                    <a:pt x="0" y="139647"/>
                    <a:pt x="0" y="110374"/>
                  </a:cubicBezTo>
                  <a:lnTo>
                    <a:pt x="0" y="110374"/>
                  </a:lnTo>
                  <a:cubicBezTo>
                    <a:pt x="0" y="81101"/>
                    <a:pt x="11629" y="53027"/>
                    <a:pt x="32328" y="32328"/>
                  </a:cubicBezTo>
                  <a:cubicBezTo>
                    <a:pt x="53027" y="11629"/>
                    <a:pt x="81101" y="0"/>
                    <a:pt x="110374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95250"/>
              <a:ext cx="1466248" cy="315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28700" y="7901504"/>
            <a:ext cx="5567160" cy="838151"/>
            <a:chOff x="0" y="0"/>
            <a:chExt cx="1466248" cy="22074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466248" cy="220747"/>
            </a:xfrm>
            <a:custGeom>
              <a:avLst/>
              <a:gdLst/>
              <a:ahLst/>
              <a:cxnLst/>
              <a:rect l="l" t="t" r="r" b="b"/>
              <a:pathLst>
                <a:path w="1466248" h="220747">
                  <a:moveTo>
                    <a:pt x="110374" y="0"/>
                  </a:moveTo>
                  <a:lnTo>
                    <a:pt x="1355874" y="0"/>
                  </a:lnTo>
                  <a:cubicBezTo>
                    <a:pt x="1385147" y="0"/>
                    <a:pt x="1413221" y="11629"/>
                    <a:pt x="1433920" y="32328"/>
                  </a:cubicBezTo>
                  <a:cubicBezTo>
                    <a:pt x="1454619" y="53027"/>
                    <a:pt x="1466248" y="81101"/>
                    <a:pt x="1466248" y="110374"/>
                  </a:cubicBezTo>
                  <a:lnTo>
                    <a:pt x="1466248" y="110374"/>
                  </a:lnTo>
                  <a:cubicBezTo>
                    <a:pt x="1466248" y="139647"/>
                    <a:pt x="1454619" y="167721"/>
                    <a:pt x="1433920" y="188420"/>
                  </a:cubicBezTo>
                  <a:cubicBezTo>
                    <a:pt x="1413221" y="209119"/>
                    <a:pt x="1385147" y="220747"/>
                    <a:pt x="1355874" y="220747"/>
                  </a:cubicBezTo>
                  <a:lnTo>
                    <a:pt x="110374" y="220747"/>
                  </a:lnTo>
                  <a:cubicBezTo>
                    <a:pt x="81101" y="220747"/>
                    <a:pt x="53027" y="209119"/>
                    <a:pt x="32328" y="188420"/>
                  </a:cubicBezTo>
                  <a:cubicBezTo>
                    <a:pt x="11629" y="167721"/>
                    <a:pt x="0" y="139647"/>
                    <a:pt x="0" y="110374"/>
                  </a:cubicBezTo>
                  <a:lnTo>
                    <a:pt x="0" y="110374"/>
                  </a:lnTo>
                  <a:cubicBezTo>
                    <a:pt x="0" y="81101"/>
                    <a:pt x="11629" y="53027"/>
                    <a:pt x="32328" y="32328"/>
                  </a:cubicBezTo>
                  <a:cubicBezTo>
                    <a:pt x="53027" y="11629"/>
                    <a:pt x="81101" y="0"/>
                    <a:pt x="110374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95250"/>
              <a:ext cx="1466248" cy="315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285620" y="3323993"/>
            <a:ext cx="5053319" cy="55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0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01. Abstract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333396" y="3323993"/>
            <a:ext cx="5053319" cy="55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0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07. Solution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85620" y="4493769"/>
            <a:ext cx="5053319" cy="55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0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02. Introduction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333396" y="4493769"/>
            <a:ext cx="5053319" cy="55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0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07.  New feature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85620" y="5665295"/>
            <a:ext cx="5053319" cy="55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0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03. Existing System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333396" y="5665295"/>
            <a:ext cx="5053319" cy="55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0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08. Research knowledge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85620" y="6836821"/>
            <a:ext cx="5053319" cy="55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0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04. Algorithms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85620" y="8008346"/>
            <a:ext cx="5053319" cy="55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0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05. Flow diagrams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28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698941" y="598782"/>
            <a:ext cx="7561002" cy="1364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975"/>
              </a:lnSpc>
            </a:pPr>
            <a:r>
              <a:rPr lang="en-US" sz="7870" b="1">
                <a:solidFill>
                  <a:srgbClr val="303870"/>
                </a:solidFill>
                <a:latin typeface="Agrandir Wide Bold" panose="00000805000000000000"/>
                <a:ea typeface="Agrandir Wide Bold" panose="00000805000000000000"/>
                <a:cs typeface="Agrandir Wide Bold" panose="00000805000000000000"/>
                <a:sym typeface="Agrandir Wide Bold" panose="00000805000000000000"/>
              </a:rPr>
              <a:t>ABSTRACT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19789" y="2290346"/>
            <a:ext cx="14203621" cy="7801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0" lvl="1" indent="-345440" algn="just">
              <a:lnSpc>
                <a:spcPts val="5630"/>
              </a:lnSpc>
              <a:buFont typeface="Arial" panose="020B0604020202020204"/>
              <a:buChar char="•"/>
            </a:pPr>
            <a:r>
              <a:rPr lang="en-US" sz="32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Wine quality control traditionally relies on single-variable thresholds that miss complex chemical interactions</a:t>
            </a:r>
          </a:p>
          <a:p>
            <a:pPr marL="690880" lvl="1" indent="-345440" algn="just">
              <a:lnSpc>
                <a:spcPts val="5630"/>
              </a:lnSpc>
              <a:buFont typeface="Arial" panose="020B0604020202020204"/>
              <a:buChar char="•"/>
            </a:pPr>
            <a:r>
              <a:rPr lang="en-US" sz="32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This project uses DBSCAN, an unsupervised ML algorithm, for multi-dimensional anomaly detection in wine chemical properties</a:t>
            </a:r>
          </a:p>
          <a:p>
            <a:pPr marL="690880" lvl="1" indent="-345440" algn="just">
              <a:lnSpc>
                <a:spcPts val="5630"/>
              </a:lnSpc>
              <a:buFont typeface="Arial" panose="020B0604020202020204"/>
              <a:buChar char="•"/>
            </a:pPr>
            <a:r>
              <a:rPr lang="en-US" sz="32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Unlike K-Means, DBSCAN needs no predefined cluster count — it groups data by density</a:t>
            </a:r>
          </a:p>
          <a:p>
            <a:pPr marL="690880" lvl="1" indent="-345440" algn="just">
              <a:lnSpc>
                <a:spcPts val="5630"/>
              </a:lnSpc>
              <a:buFont typeface="Arial" panose="020B0604020202020204"/>
              <a:buChar char="•"/>
            </a:pPr>
            <a:r>
              <a:rPr lang="en-US" sz="32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Anomalies are wines with rare chemical compositions: possible premium editions, manufacturing deviations, or defective batches</a:t>
            </a:r>
          </a:p>
          <a:p>
            <a:pPr marL="690880" lvl="1" indent="-345440" algn="just">
              <a:lnSpc>
                <a:spcPts val="5630"/>
              </a:lnSpc>
              <a:buFont typeface="Arial" panose="020B0604020202020204"/>
              <a:buChar char="•"/>
            </a:pPr>
            <a:r>
              <a:rPr lang="en-US" sz="32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Data is standardized before clustering so features with different units (ppm vs pH) contribute equally</a:t>
            </a:r>
          </a:p>
          <a:p>
            <a:pPr algn="just">
              <a:lnSpc>
                <a:spcPts val="5630"/>
              </a:lnSpc>
            </a:pPr>
            <a:endParaRPr lang="en-US" sz="32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724666" y="260518"/>
            <a:ext cx="9809969" cy="1364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75"/>
              </a:lnSpc>
            </a:pPr>
            <a:r>
              <a:rPr lang="en-US" sz="7870" b="1">
                <a:solidFill>
                  <a:srgbClr val="303870"/>
                </a:solidFill>
                <a:latin typeface="Agrandir Wide Bold" panose="00000805000000000000"/>
                <a:ea typeface="Agrandir Wide Bold" panose="00000805000000000000"/>
                <a:cs typeface="Agrandir Wide Bold" panose="00000805000000000000"/>
                <a:sym typeface="Agrandir Wide Bold" panose="00000805000000000000"/>
              </a:rPr>
              <a:t>INTRODUCTION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60227" y="1920747"/>
            <a:ext cx="14938846" cy="8366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10" lvl="1" indent="-313055" algn="ctr">
              <a:lnSpc>
                <a:spcPts val="5105"/>
              </a:lnSpc>
              <a:buFont typeface="Arial" panose="020B0604020202020204"/>
              <a:buChar char="•"/>
            </a:pPr>
            <a:r>
              <a:rPr lang="en-US" sz="29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Wine's chemical composition (volatile acidity, citric acid, sulfur dioxide, etc.) determines flavor, stability, and quality</a:t>
            </a:r>
          </a:p>
          <a:p>
            <a:pPr marL="626110" lvl="1" indent="-313055" algn="ctr">
              <a:lnSpc>
                <a:spcPts val="5105"/>
              </a:lnSpc>
              <a:buFont typeface="Arial" panose="020B0604020202020204"/>
              <a:buChar char="•"/>
            </a:pPr>
            <a:r>
              <a:rPr lang="en-US" sz="29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Imbalances cause real defects — e.g., high volatile acidity gives a vinegar taste; wrong sulfur dioxide levels cause spoilage</a:t>
            </a:r>
          </a:p>
          <a:p>
            <a:pPr marL="626110" lvl="1" indent="-313055" algn="ctr">
              <a:lnSpc>
                <a:spcPts val="5105"/>
              </a:lnSpc>
              <a:buFont typeface="Arial" panose="020B0604020202020204"/>
              <a:buChar char="•"/>
            </a:pPr>
            <a:r>
              <a:rPr lang="en-US" sz="29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Goal: automatically detect wines that deviate from standard chemical profiles for quality assurance</a:t>
            </a:r>
          </a:p>
          <a:p>
            <a:pPr marL="626110" lvl="1" indent="-313055" algn="ctr">
              <a:lnSpc>
                <a:spcPts val="5105"/>
              </a:lnSpc>
              <a:buFont typeface="Arial" panose="020B0604020202020204"/>
              <a:buChar char="•"/>
            </a:pPr>
            <a:r>
              <a:rPr lang="en-US" sz="29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DBSCAN separates dense "normal" regions from sparse "anomalous" points in feature space</a:t>
            </a:r>
          </a:p>
          <a:p>
            <a:pPr marL="626110" lvl="1" indent="-313055" algn="ctr">
              <a:lnSpc>
                <a:spcPts val="5105"/>
              </a:lnSpc>
              <a:buFont typeface="Arial" panose="020B0604020202020204"/>
              <a:buChar char="•"/>
            </a:pPr>
            <a:r>
              <a:rPr lang="en-US" sz="29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Key parameters: eps (neighborhood radius) and min_samples (minimum points for a dense core)</a:t>
            </a:r>
          </a:p>
          <a:p>
            <a:pPr marL="626110" lvl="1" indent="-313055" algn="ctr">
              <a:lnSpc>
                <a:spcPts val="5105"/>
              </a:lnSpc>
              <a:buFont typeface="Arial" panose="020B0604020202020204"/>
              <a:buChar char="•"/>
            </a:pPr>
            <a:r>
              <a:rPr lang="en-US" sz="29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Fully unsupervised — no labeled data required, making it scalable for real production data</a:t>
            </a:r>
          </a:p>
          <a:p>
            <a:pPr algn="ctr">
              <a:lnSpc>
                <a:spcPts val="5105"/>
              </a:lnSpc>
            </a:pPr>
            <a:endParaRPr lang="en-US" sz="29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296272" y="527095"/>
            <a:ext cx="12856772" cy="1364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75"/>
              </a:lnSpc>
            </a:pPr>
            <a:r>
              <a:rPr lang="en-US" sz="7870" b="1">
                <a:solidFill>
                  <a:srgbClr val="303870"/>
                </a:solidFill>
                <a:latin typeface="Agrandir Wide Bold" panose="00000805000000000000"/>
                <a:ea typeface="Agrandir Wide Bold" panose="00000805000000000000"/>
                <a:cs typeface="Agrandir Wide Bold" panose="00000805000000000000"/>
                <a:sym typeface="Agrandir Wide Bold" panose="00000805000000000000"/>
              </a:rPr>
              <a:t>EXISTING SYSTEM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678048"/>
            <a:ext cx="14348941" cy="7494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90" lvl="1" indent="-334645" algn="l">
              <a:lnSpc>
                <a:spcPts val="5455"/>
              </a:lnSpc>
              <a:buFont typeface="Arial" panose="020B0604020202020204"/>
              <a:buChar char="•"/>
            </a:pPr>
            <a:r>
              <a:rPr lang="en-US" sz="3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Traditional QC uses manual/single-variable threshold checks (e.g., flagging if pH or alcohol content crosses a fixed limit)</a:t>
            </a:r>
          </a:p>
          <a:p>
            <a:pPr marL="669290" lvl="1" indent="-334645" algn="l">
              <a:lnSpc>
                <a:spcPts val="5455"/>
              </a:lnSpc>
              <a:buFont typeface="Arial" panose="020B0604020202020204"/>
              <a:buChar char="•"/>
            </a:pPr>
            <a:r>
              <a:rPr lang="en-US" sz="3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Existing statistical methods (Z-score, IQR) evaluate one feature at a time and miss multi-variable interactions</a:t>
            </a:r>
          </a:p>
          <a:p>
            <a:pPr marL="669290" lvl="1" indent="-334645" algn="l">
              <a:lnSpc>
                <a:spcPts val="5455"/>
              </a:lnSpc>
              <a:buFont typeface="Arial" panose="020B0604020202020204"/>
              <a:buChar char="•"/>
            </a:pPr>
            <a:r>
              <a:rPr lang="en-US" sz="3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Supervised ML approaches need labeled "good/bad" wine data, which is expensive and often unavailable</a:t>
            </a:r>
          </a:p>
          <a:p>
            <a:pPr marL="669290" lvl="1" indent="-334645" algn="l">
              <a:lnSpc>
                <a:spcPts val="5455"/>
              </a:lnSpc>
              <a:buFont typeface="Arial" panose="020B0604020202020204"/>
              <a:buChar char="•"/>
            </a:pPr>
            <a:r>
              <a:rPr lang="en-US" sz="3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K-Means and other partitioning clustering methods require a predefined number of clusters, unsuited for irregular anomaly shapes</a:t>
            </a:r>
          </a:p>
          <a:p>
            <a:pPr marL="669290" lvl="1" indent="-334645" algn="l">
              <a:lnSpc>
                <a:spcPts val="5455"/>
              </a:lnSpc>
              <a:buFont typeface="Arial" panose="020B0604020202020204"/>
              <a:buChar char="•"/>
            </a:pPr>
            <a:r>
              <a:rPr lang="en-US" sz="3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Limitation: none of these effectively capture how multiple chemical properties jointly define "normal" vs "abnormal" wine</a:t>
            </a:r>
          </a:p>
          <a:p>
            <a:pPr algn="l">
              <a:lnSpc>
                <a:spcPts val="5455"/>
              </a:lnSpc>
            </a:pPr>
            <a:endParaRPr lang="en-US" sz="31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431503" y="260518"/>
            <a:ext cx="8666574" cy="1364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75"/>
              </a:lnSpc>
            </a:pPr>
            <a:r>
              <a:rPr lang="en-US" sz="7870" b="1">
                <a:solidFill>
                  <a:srgbClr val="303870"/>
                </a:solidFill>
                <a:latin typeface="Agrandir Wide Bold" panose="00000805000000000000"/>
                <a:ea typeface="Agrandir Wide Bold" panose="00000805000000000000"/>
                <a:cs typeface="Agrandir Wide Bold" panose="00000805000000000000"/>
                <a:sym typeface="Agrandir Wide Bold" panose="00000805000000000000"/>
              </a:rPr>
              <a:t>ALGORITHMS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42248" y="1665985"/>
            <a:ext cx="13422379" cy="8621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0" lvl="1" indent="-302260" algn="l">
              <a:lnSpc>
                <a:spcPts val="4925"/>
              </a:lnSpc>
              <a:buFont typeface="Arial" panose="020B0604020202020204"/>
              <a:buChar char="•"/>
            </a:pPr>
            <a:r>
              <a:rPr lang="en-US" sz="28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Core Algorithm: DBSCAN (Density-Based Spatial Clustering of Applications with Noise)</a:t>
            </a:r>
          </a:p>
          <a:p>
            <a:pPr marL="604520" lvl="1" indent="-302260" algn="l">
              <a:lnSpc>
                <a:spcPts val="4925"/>
              </a:lnSpc>
              <a:buFont typeface="Arial" panose="020B0604020202020204"/>
              <a:buChar char="•"/>
            </a:pPr>
            <a:r>
              <a:rPr lang="en-US" sz="28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Classifies points as Core points, Border points, and Noise points based on local density</a:t>
            </a:r>
          </a:p>
          <a:p>
            <a:pPr marL="604520" lvl="1" indent="-302260" algn="l">
              <a:lnSpc>
                <a:spcPts val="4925"/>
              </a:lnSpc>
              <a:buFont typeface="Arial" panose="020B0604020202020204"/>
              <a:buChar char="•"/>
            </a:pPr>
            <a:r>
              <a:rPr lang="en-US" sz="28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eps: maximum distance between two points to be considered neighbors</a:t>
            </a:r>
          </a:p>
          <a:p>
            <a:pPr marL="604520" lvl="1" indent="-302260" algn="l">
              <a:lnSpc>
                <a:spcPts val="4925"/>
              </a:lnSpc>
              <a:buFont typeface="Arial" panose="020B0604020202020204"/>
              <a:buChar char="•"/>
            </a:pPr>
            <a:r>
              <a:rPr lang="en-US" sz="28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min_samples: minimum number of points needed within eps to form a dense region (core point)</a:t>
            </a:r>
          </a:p>
          <a:p>
            <a:pPr marL="604520" lvl="1" indent="-302260" algn="l">
              <a:lnSpc>
                <a:spcPts val="4925"/>
              </a:lnSpc>
              <a:buFont typeface="Arial" panose="020B0604020202020204"/>
              <a:buChar char="•"/>
            </a:pPr>
            <a:r>
              <a:rPr lang="en-US" sz="28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Preprocessing: StandardScaler normalizes all chemical features to comparable scale</a:t>
            </a:r>
          </a:p>
          <a:p>
            <a:pPr marL="604520" lvl="1" indent="-302260" algn="l">
              <a:lnSpc>
                <a:spcPts val="4925"/>
              </a:lnSpc>
              <a:buFont typeface="Arial" panose="020B0604020202020204"/>
              <a:buChar char="•"/>
            </a:pPr>
            <a:r>
              <a:rPr lang="en-US" sz="28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Points not belonging to any dense cluster are automatically labeled as anomalies (noise)</a:t>
            </a:r>
          </a:p>
          <a:p>
            <a:pPr marL="604520" lvl="1" indent="-302260" algn="l">
              <a:lnSpc>
                <a:spcPts val="4925"/>
              </a:lnSpc>
              <a:buFont typeface="Arial" panose="020B0604020202020204"/>
              <a:buChar char="•"/>
            </a:pPr>
            <a:r>
              <a:rPr lang="en-US" sz="28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Advantage over K-Means: no need to specify number of clusters; handles arbitrarily shaped clusters; robust to outliers by design</a:t>
            </a:r>
          </a:p>
          <a:p>
            <a:pPr algn="l">
              <a:lnSpc>
                <a:spcPts val="4925"/>
              </a:lnSpc>
            </a:pPr>
            <a:endParaRPr lang="en-US" sz="28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181514" y="547089"/>
            <a:ext cx="9614412" cy="1364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75"/>
              </a:lnSpc>
            </a:pPr>
            <a:r>
              <a:rPr lang="en-US" sz="7870" b="1">
                <a:solidFill>
                  <a:srgbClr val="303870"/>
                </a:solidFill>
                <a:latin typeface="Agrandir Wide Bold" panose="00000805000000000000"/>
                <a:ea typeface="Agrandir Wide Bold" panose="00000805000000000000"/>
                <a:cs typeface="Agrandir Wide Bold" panose="00000805000000000000"/>
                <a:sym typeface="Agrandir Wide Bold" panose="00000805000000000000"/>
              </a:rPr>
              <a:t>FLOW DIAGRAM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93942" y="2065551"/>
            <a:ext cx="14343972" cy="8516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0" lvl="1" indent="-345440" algn="just">
              <a:lnSpc>
                <a:spcPts val="5630"/>
              </a:lnSpc>
              <a:buFont typeface="Arial" panose="020B0604020202020204"/>
              <a:buChar char="•"/>
            </a:pPr>
            <a:r>
              <a:rPr lang="en-US" sz="32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Step 1: Collect wine physicochemical dataset (fixed acidity, residual sugar, chlorides, alcohol, etc.)</a:t>
            </a:r>
          </a:p>
          <a:p>
            <a:pPr marL="690880" lvl="1" indent="-345440" algn="just">
              <a:lnSpc>
                <a:spcPts val="5630"/>
              </a:lnSpc>
              <a:buFont typeface="Arial" panose="020B0604020202020204"/>
              <a:buChar char="•"/>
            </a:pPr>
            <a:r>
              <a:rPr lang="en-US" sz="32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Step 2: Data preprocessing — handle missing values, apply StandardScaler</a:t>
            </a:r>
          </a:p>
          <a:p>
            <a:pPr marL="690880" lvl="1" indent="-345440" algn="just">
              <a:lnSpc>
                <a:spcPts val="5630"/>
              </a:lnSpc>
              <a:buFont typeface="Arial" panose="020B0604020202020204"/>
              <a:buChar char="•"/>
            </a:pPr>
            <a:r>
              <a:rPr lang="en-US" sz="32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Step 3: Feature selection/dimensionality consideration for clustering</a:t>
            </a:r>
          </a:p>
          <a:p>
            <a:pPr marL="690880" lvl="1" indent="-345440" algn="just">
              <a:lnSpc>
                <a:spcPts val="5630"/>
              </a:lnSpc>
              <a:buFont typeface="Arial" panose="020B0604020202020204"/>
              <a:buChar char="•"/>
            </a:pPr>
            <a:r>
              <a:rPr lang="en-US" sz="32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Step 4: Apply DBSCAN with tuned eps and min_samples</a:t>
            </a:r>
          </a:p>
          <a:p>
            <a:pPr marL="690880" lvl="1" indent="-345440" algn="just">
              <a:lnSpc>
                <a:spcPts val="5630"/>
              </a:lnSpc>
              <a:buFont typeface="Arial" panose="020B0604020202020204"/>
              <a:buChar char="•"/>
            </a:pPr>
            <a:r>
              <a:rPr lang="en-US" sz="32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Step 5: Label points as cluster members or noise/anomaly</a:t>
            </a:r>
          </a:p>
          <a:p>
            <a:pPr marL="690880" lvl="1" indent="-345440" algn="just">
              <a:lnSpc>
                <a:spcPts val="5630"/>
              </a:lnSpc>
              <a:buFont typeface="Arial" panose="020B0604020202020204"/>
              <a:buChar char="•"/>
            </a:pPr>
            <a:r>
              <a:rPr lang="en-US" sz="32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Step 6: Visualize clusters and anomalies (2D/3D scatter plots)</a:t>
            </a:r>
          </a:p>
          <a:p>
            <a:pPr marL="690880" lvl="1" indent="-345440" algn="just">
              <a:lnSpc>
                <a:spcPts val="5630"/>
              </a:lnSpc>
              <a:buFont typeface="Arial" panose="020B0604020202020204"/>
              <a:buChar char="•"/>
            </a:pPr>
            <a:r>
              <a:rPr lang="en-US" sz="32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Step 7: Interpret flagged anomalies for quality review</a:t>
            </a:r>
          </a:p>
          <a:p>
            <a:pPr marL="690880" lvl="1" indent="-345440" algn="just">
              <a:lnSpc>
                <a:spcPts val="5630"/>
              </a:lnSpc>
              <a:buFont typeface="Arial" panose="020B0604020202020204"/>
              <a:buChar char="•"/>
            </a:pPr>
            <a:r>
              <a:rPr lang="en-US" sz="32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(Use this as a left-to-right or top-down flowchart with arrows between each step)</a:t>
            </a:r>
          </a:p>
          <a:p>
            <a:pPr algn="just">
              <a:lnSpc>
                <a:spcPts val="5630"/>
              </a:lnSpc>
            </a:pPr>
            <a:endParaRPr lang="en-US" sz="32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768933" y="690043"/>
            <a:ext cx="9615185" cy="1364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75"/>
              </a:lnSpc>
            </a:pPr>
            <a:r>
              <a:rPr lang="en-US" sz="7870" b="1">
                <a:solidFill>
                  <a:srgbClr val="303870"/>
                </a:solidFill>
                <a:latin typeface="Agrandir Wide Bold" panose="00000805000000000000"/>
                <a:ea typeface="Agrandir Wide Bold" panose="00000805000000000000"/>
                <a:cs typeface="Agrandir Wide Bold" panose="00000805000000000000"/>
                <a:sym typeface="Agrandir Wide Bold" panose="00000805000000000000"/>
              </a:rPr>
              <a:t>SOLUTION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88508" y="2698902"/>
            <a:ext cx="14390233" cy="6271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7230" lvl="1" indent="-348615" algn="just">
              <a:lnSpc>
                <a:spcPts val="4520"/>
              </a:lnSpc>
              <a:buFont typeface="Arial" panose="020B0604020202020204"/>
              <a:buChar char="•"/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Proposed system automates anomaly detection using DBSCAN on standardized wine chemical data</a:t>
            </a:r>
          </a:p>
          <a:p>
            <a:pPr marL="697230" lvl="1" indent="-348615" algn="just">
              <a:lnSpc>
                <a:spcPts val="4520"/>
              </a:lnSpc>
              <a:buFont typeface="Arial" panose="020B0604020202020204"/>
              <a:buChar char="•"/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Captures complex, multi-dimensional relationships between chemical constituents instead of single-variable checks</a:t>
            </a:r>
          </a:p>
          <a:p>
            <a:pPr marL="697230" lvl="1" indent="-348615" algn="just">
              <a:lnSpc>
                <a:spcPts val="4520"/>
              </a:lnSpc>
              <a:buFont typeface="Arial" panose="020B0604020202020204"/>
              <a:buChar char="•"/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Automatically separates standard wine profiles into clusters while explicitly flagging outliers</a:t>
            </a:r>
          </a:p>
          <a:p>
            <a:pPr marL="697230" lvl="1" indent="-348615" algn="just">
              <a:lnSpc>
                <a:spcPts val="4520"/>
              </a:lnSpc>
              <a:buFont typeface="Arial" panose="020B0604020202020204"/>
              <a:buChar char="•"/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No manual labeling needed — makes the solution scalable to large production datasets</a:t>
            </a:r>
          </a:p>
          <a:p>
            <a:pPr marL="697230" lvl="1" indent="-348615" algn="just">
              <a:lnSpc>
                <a:spcPts val="4520"/>
              </a:lnSpc>
              <a:buFont typeface="Arial" panose="020B0604020202020204"/>
              <a:buChar char="•"/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Optimized eps/min_samples ensure genuine anomalies are detected, not just noise</a:t>
            </a:r>
          </a:p>
          <a:p>
            <a:pPr algn="just">
              <a:lnSpc>
                <a:spcPts val="4520"/>
              </a:lnSpc>
            </a:pPr>
            <a:endParaRPr lang="en-US" sz="323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690917" y="478123"/>
            <a:ext cx="9384626" cy="1364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75"/>
              </a:lnSpc>
            </a:pPr>
            <a:r>
              <a:rPr lang="en-US" sz="7870" b="1">
                <a:solidFill>
                  <a:srgbClr val="303870"/>
                </a:solidFill>
                <a:latin typeface="Agrandir Wide Bold" panose="00000805000000000000"/>
                <a:ea typeface="Agrandir Wide Bold" panose="00000805000000000000"/>
                <a:cs typeface="Agrandir Wide Bold" panose="00000805000000000000"/>
                <a:sym typeface="Agrandir Wide Bold" panose="00000805000000000000"/>
              </a:rPr>
              <a:t>NEW FEATURE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7623" y="2170682"/>
            <a:ext cx="12640013" cy="7087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0" lvl="1" indent="-345440" algn="l">
              <a:lnSpc>
                <a:spcPts val="5630"/>
              </a:lnSpc>
              <a:buFont typeface="Arial" panose="020B0604020202020204"/>
              <a:buChar char="•"/>
            </a:pPr>
            <a:r>
              <a:rPr lang="en-US" sz="3200" dirty="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Interactive visualization dashboard to explore clusters and anomalies in real time</a:t>
            </a:r>
          </a:p>
          <a:p>
            <a:pPr marL="690880" lvl="1" indent="-345440" algn="l">
              <a:lnSpc>
                <a:spcPts val="5630"/>
              </a:lnSpc>
              <a:buFont typeface="Arial" panose="020B0604020202020204"/>
              <a:buChar char="•"/>
            </a:pPr>
            <a:r>
              <a:rPr lang="en-US" sz="3200" dirty="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Automated alert system to flag anomalous wine batches for further oenological review</a:t>
            </a:r>
          </a:p>
          <a:p>
            <a:pPr marL="690880" lvl="1" indent="-345440" algn="l">
              <a:lnSpc>
                <a:spcPts val="5630"/>
              </a:lnSpc>
              <a:buFont typeface="Arial" panose="020B0604020202020204"/>
              <a:buChar char="•"/>
            </a:pPr>
            <a:r>
              <a:rPr lang="en-US" sz="3200" dirty="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Extendable to include additional sensors/features (e.g., tannin levels, temperature during fermentation) for richer anomaly detection</a:t>
            </a:r>
          </a:p>
          <a:p>
            <a:pPr marL="690880" lvl="1" indent="-345440" algn="l">
              <a:lnSpc>
                <a:spcPts val="5630"/>
              </a:lnSpc>
              <a:buFont typeface="Arial" panose="020B0604020202020204"/>
              <a:buChar char="•"/>
            </a:pPr>
            <a:r>
              <a:rPr lang="en-US" sz="3200" dirty="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Potential integration with production-line systems for real-time quality monitoring</a:t>
            </a:r>
          </a:p>
          <a:p>
            <a:pPr algn="l">
              <a:lnSpc>
                <a:spcPts val="5630"/>
              </a:lnSpc>
            </a:pPr>
            <a:endParaRPr lang="en-US" sz="3200" dirty="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640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614704"/>
            <a:ext cx="15948101" cy="1364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75"/>
              </a:lnSpc>
            </a:pPr>
            <a:r>
              <a:rPr lang="en-US" sz="7870" b="1">
                <a:solidFill>
                  <a:srgbClr val="303870"/>
                </a:solidFill>
                <a:latin typeface="Agrandir Wide Bold" panose="00000805000000000000"/>
                <a:ea typeface="Agrandir Wide Bold" panose="00000805000000000000"/>
                <a:cs typeface="Agrandir Wide Bold" panose="00000805000000000000"/>
                <a:sym typeface="Agrandir Wide Bold" panose="00000805000000000000"/>
              </a:rPr>
              <a:t>RESEARCH KNOWLEDGE</a:t>
            </a:r>
          </a:p>
        </p:txBody>
      </p:sp>
      <p:sp>
        <p:nvSpPr>
          <p:cNvPr id="9" name="Rectangle 8"/>
          <p:cNvSpPr/>
          <p:nvPr/>
        </p:nvSpPr>
        <p:spPr>
          <a:xfrm>
            <a:off x="1154150" y="1650236"/>
            <a:ext cx="15697200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solidFill>
                <a:schemeClr val="tx2">
                  <a:lumMod val="75000"/>
                </a:schemeClr>
              </a:solidFill>
              <a:latin typeface="Nunito" panose="020B060402020202020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chemeClr val="tx2">
                    <a:lumMod val="75000"/>
                  </a:schemeClr>
                </a:solidFill>
                <a:latin typeface="Nunito" panose="020B0604020202020204" charset="0"/>
                <a:cs typeface="Arial" panose="020B0604020202020204" pitchFamily="34" charset="0"/>
              </a:rPr>
              <a:t>The research evaluates </a:t>
            </a:r>
            <a:r>
              <a:rPr lang="en-US" altLang="en-US" sz="3200" dirty="0" smtClean="0">
                <a:solidFill>
                  <a:schemeClr val="tx2">
                    <a:lumMod val="75000"/>
                  </a:schemeClr>
                </a:solidFill>
                <a:latin typeface="Nunito" panose="020B0604020202020204" charset="0"/>
                <a:cs typeface="Arial" panose="020B0604020202020204" pitchFamily="34" charset="0"/>
              </a:rPr>
              <a:t>DBSCAN </a:t>
            </a:r>
            <a:r>
              <a:rPr lang="en-US" altLang="en-US" sz="3200" dirty="0">
                <a:solidFill>
                  <a:schemeClr val="tx2">
                    <a:lumMod val="75000"/>
                  </a:schemeClr>
                </a:solidFill>
                <a:latin typeface="Nunito" panose="020B0604020202020204" charset="0"/>
                <a:cs typeface="Arial" panose="020B0604020202020204" pitchFamily="34" charset="0"/>
              </a:rPr>
              <a:t>and k-means-based approaches on benchmark datasets.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chemeClr val="tx2">
                    <a:lumMod val="75000"/>
                  </a:schemeClr>
                </a:solidFill>
                <a:latin typeface="Nunito" panose="020B0604020202020204" charset="0"/>
                <a:cs typeface="Arial" panose="020B0604020202020204" pitchFamily="34" charset="0"/>
              </a:rPr>
              <a:t>DBSCAN identifies anomalies by detecting isolated data points in low-density regions.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chemeClr val="tx2">
                    <a:lumMod val="75000"/>
                  </a:schemeClr>
                </a:solidFill>
                <a:latin typeface="Nunito" panose="020B0604020202020204" charset="0"/>
                <a:cs typeface="Arial" panose="020B0604020202020204" pitchFamily="34" charset="0"/>
              </a:rPr>
              <a:t>The algorithms are compared using F1-score, false alarm rate, ARI, </a:t>
            </a:r>
            <a:r>
              <a:rPr lang="en-US" altLang="en-US" sz="3200" dirty="0" err="1">
                <a:solidFill>
                  <a:schemeClr val="tx2">
                    <a:lumMod val="75000"/>
                  </a:schemeClr>
                </a:solidFill>
                <a:latin typeface="Nunito" panose="020B0604020202020204" charset="0"/>
                <a:cs typeface="Arial" panose="020B0604020202020204" pitchFamily="34" charset="0"/>
              </a:rPr>
              <a:t>Jaccard</a:t>
            </a:r>
            <a:r>
              <a:rPr lang="en-US" altLang="en-US" sz="3200" dirty="0">
                <a:solidFill>
                  <a:schemeClr val="tx2">
                    <a:lumMod val="75000"/>
                  </a:schemeClr>
                </a:solidFill>
                <a:latin typeface="Nunito" panose="020B0604020202020204" charset="0"/>
                <a:cs typeface="Arial" panose="020B0604020202020204" pitchFamily="34" charset="0"/>
              </a:rPr>
              <a:t> coefficient, and running time.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chemeClr val="tx2">
                    <a:lumMod val="75000"/>
                  </a:schemeClr>
                </a:solidFill>
                <a:latin typeface="Nunito" panose="020B0604020202020204" charset="0"/>
                <a:cs typeface="Arial" panose="020B0604020202020204" pitchFamily="34" charset="0"/>
              </a:rPr>
              <a:t>The study shows that DBSCAN performs effectively for anomaly detection, especially on datasets with fewer data points.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chemeClr val="tx2">
                    <a:lumMod val="75000"/>
                  </a:schemeClr>
                </a:solidFill>
                <a:latin typeface="Nunito" panose="020B0604020202020204" charset="0"/>
                <a:cs typeface="Arial" panose="020B0604020202020204" pitchFamily="34" charset="0"/>
              </a:rPr>
              <a:t>This research provides a strong foundation for our project, </a:t>
            </a:r>
            <a:r>
              <a:rPr lang="en-US" altLang="en-US" sz="3200" b="1" dirty="0">
                <a:solidFill>
                  <a:schemeClr val="tx2">
                    <a:lumMod val="75000"/>
                  </a:schemeClr>
                </a:solidFill>
                <a:latin typeface="Nunito" panose="020B0604020202020204" charset="0"/>
                <a:cs typeface="Arial" panose="020B0604020202020204" pitchFamily="34" charset="0"/>
              </a:rPr>
              <a:t>Wine Chemical Property Anomaly Detection Using DBSCAN</a:t>
            </a:r>
            <a:r>
              <a:rPr lang="en-US" altLang="en-US" sz="3200" dirty="0">
                <a:solidFill>
                  <a:schemeClr val="tx2">
                    <a:lumMod val="75000"/>
                  </a:schemeClr>
                </a:solidFill>
                <a:latin typeface="Nunito" panose="020B0604020202020204" charset="0"/>
                <a:cs typeface="Arial" panose="020B0604020202020204" pitchFamily="34" charset="0"/>
              </a:rPr>
              <a:t>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solidFill>
                <a:schemeClr val="tx2">
                  <a:lumMod val="75000"/>
                </a:schemeClr>
              </a:solidFill>
              <a:latin typeface="Nunito" panose="020B060402020202020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chemeClr val="tx2">
                    <a:lumMod val="75000"/>
                  </a:schemeClr>
                </a:solidFill>
                <a:latin typeface="Nunito" panose="020B0604020202020204" charset="0"/>
                <a:cs typeface="Arial" panose="020B0604020202020204" pitchFamily="34" charset="0"/>
              </a:rPr>
              <a:t>This study investigates anomaly detection using density-based and representative-based clustering algorithms.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3534337"/>
            <a:ext cx="10208996" cy="1812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90"/>
              </a:lnSpc>
            </a:pPr>
            <a:r>
              <a:rPr lang="en-US" sz="10345" b="1">
                <a:solidFill>
                  <a:srgbClr val="303870"/>
                </a:solidFill>
                <a:latin typeface="Agrandir Wide Bold" panose="00000805000000000000"/>
                <a:ea typeface="Agrandir Wide Bold" panose="00000805000000000000"/>
                <a:cs typeface="Agrandir Wide Bold" panose="00000805000000000000"/>
                <a:sym typeface="Agrandir Wide Bold" panose="0000080500000000000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744</Words>
  <Application>Microsoft Office PowerPoint</Application>
  <PresentationFormat>Custom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Nunito</vt:lpstr>
      <vt:lpstr>Agrandir Wide</vt:lpstr>
      <vt:lpstr>Calibri</vt:lpstr>
      <vt:lpstr>Nunito Bold</vt:lpstr>
      <vt:lpstr>Agrandir Wide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Beige Simple Project Proposal Presentation</dc:title>
  <dc:creator/>
  <cp:lastModifiedBy>LENOVO</cp:lastModifiedBy>
  <cp:revision>5</cp:revision>
  <dcterms:created xsi:type="dcterms:W3CDTF">2006-08-16T00:00:00Z</dcterms:created>
  <dcterms:modified xsi:type="dcterms:W3CDTF">2026-09-14T17:46:18Z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4284110144D947FAA58302F925BDE598_12</vt:lpwstr>
  </property>
</Properties>
</file>